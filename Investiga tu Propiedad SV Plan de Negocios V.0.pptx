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F50FBA-8B5D-621F-28F9-4C8CBF88F85A}" name="Rocío Beatriz Sol Merino" initials="RS" userId="S::rocio.sol@bcr.gob.sv::bad2f55f-96a0-48fa-b3ee-85d9615379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093FBD-0782-4BB5-A5D3-9984ED8819E4}" authorId="{A5F50FBA-8B5D-621F-28F9-4C8CBF88F85A}" created="2026-07-02T02:51:27.423">
    <pc:sldMkLst xmlns:pc="http://schemas.microsoft.com/office/powerpoint/2013/main/command">
      <pc:docMk/>
      <pc:sldMk cId="0" sldId="263"/>
    </pc:sldMkLst>
    <p188:txBody>
      <a:bodyPr/>
      <a:lstStyle/>
      <a:p>
        <a:r>
          <a:rPr lang="es-SV"/>
          <a:t>Validar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41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4.png"/><Relationship Id="rId7" Type="http://schemas.openxmlformats.org/officeDocument/2006/relationships/image" Target="../media/image15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1371600"/>
            <a:ext cx="1554480" cy="15544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311" y="1744675"/>
            <a:ext cx="808330" cy="808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632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9776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privado de consulta, orientación, análisis registral y entrega 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certificaciones inmobiliarias en El Salvador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60350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de negocios — El Salvador,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1728216" y="180594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590" y="205831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y análisis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82396" y="3657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Verificamos titularidad, hipotecas, embargos y gravámenes usando la fuente oficial del CNR.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2836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5568696" y="180594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070" y="2058314"/>
            <a:ext cx="546811" cy="5468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1436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Certificaciones oficiales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22876" y="3657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Gestionamos y entregamos certificación extractada y literal emitidas por el CNR.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43316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5" name="Shape 11"/>
          <p:cNvSpPr/>
          <p:nvPr/>
        </p:nvSpPr>
        <p:spPr>
          <a:xfrm>
            <a:off x="9409176" y="180594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550" y="2058314"/>
            <a:ext cx="546811" cy="5468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1916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todos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63356" y="36576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Familias, compradores, herederos, inversionistas y salvadoreños en el exterior.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905256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5376" y="192024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saben si su propiedad está inscrita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7997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4654296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806" y="248351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14416" y="192024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Compran sin verificar hipotecas o embargos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901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3" name="Shape 9"/>
          <p:cNvSpPr/>
          <p:nvPr/>
        </p:nvSpPr>
        <p:spPr>
          <a:xfrm>
            <a:off x="8403336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846" y="24835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63456" y="192024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Escrituras antiguas sin inscribir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3093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7" name="Shape 12"/>
          <p:cNvSpPr/>
          <p:nvPr/>
        </p:nvSpPr>
        <p:spPr>
          <a:xfrm>
            <a:off x="905256" y="4617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" y="481523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65376" y="42519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Diáspora sin forma fácil de verificar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7997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21" name="Shape 15"/>
          <p:cNvSpPr/>
          <p:nvPr/>
        </p:nvSpPr>
        <p:spPr>
          <a:xfrm>
            <a:off x="4654296" y="4617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806" y="481523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14416" y="42519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vendedor no es el titular registral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2901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25" name="Shape 18"/>
          <p:cNvSpPr/>
          <p:nvPr/>
        </p:nvSpPr>
        <p:spPr>
          <a:xfrm>
            <a:off x="8403336" y="4617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0846" y="4815230"/>
            <a:ext cx="427939" cy="42793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63456" y="42519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saben qué documento solicitar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500116" y="9601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12454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de valor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2926080"/>
            <a:ext cx="88971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Ayudamos a las personas a conocer el estado registral de sus inmuebles en El Salvador, para proteger su patrimonio y decidir con seguridad antes de comprar, vender, heredar o invertir.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45920" y="521208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sustituimos al CNR — traducimos su información en decisiones claras.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16736" y="189738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10" y="214975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Propietarios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51376" y="189738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750" y="2149754"/>
            <a:ext cx="546811" cy="5468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4136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Compradores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986016" y="189738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0" y="2149754"/>
            <a:ext cx="546811" cy="5468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8776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Herederos y familias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820656" y="189738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3030" y="2149754"/>
            <a:ext cx="546811" cy="5468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43416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Diáspora en el exterior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316736" y="413766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9110" y="4390034"/>
            <a:ext cx="546811" cy="5468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Inversionistas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151376" y="413766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3750" y="4390034"/>
            <a:ext cx="546811" cy="54681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74136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Agentes inmobiliarios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986016" y="413766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390" y="4390034"/>
            <a:ext cx="546811" cy="54681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08776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Abogados y notarios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9820656" y="4137660"/>
            <a:ext cx="1051560" cy="105156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3030" y="4390034"/>
            <a:ext cx="546811" cy="546811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043416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1911096" y="191566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79" y="2124151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básica registral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7997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5660136" y="191566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2124151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2856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de situación registral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9016" y="16916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3" name="Shape 9"/>
          <p:cNvSpPr/>
          <p:nvPr/>
        </p:nvSpPr>
        <p:spPr>
          <a:xfrm>
            <a:off x="9409176" y="191566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659" y="2124151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11896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preventiva para compradores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3093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7" name="Shape 12"/>
          <p:cNvSpPr/>
          <p:nvPr/>
        </p:nvSpPr>
        <p:spPr>
          <a:xfrm>
            <a:off x="1911096" y="424738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579" y="4455871"/>
            <a:ext cx="451714" cy="45171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3816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Certificación extractada oficial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7997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21" name="Shape 15"/>
          <p:cNvSpPr/>
          <p:nvPr/>
        </p:nvSpPr>
        <p:spPr>
          <a:xfrm>
            <a:off x="5660136" y="424738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8619" y="4455871"/>
            <a:ext cx="451714" cy="4517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62856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Certificación literal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29016" y="402336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6F8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25" name="Shape 18"/>
          <p:cNvSpPr/>
          <p:nvPr/>
        </p:nvSpPr>
        <p:spPr>
          <a:xfrm>
            <a:off x="9409176" y="424738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659" y="4455871"/>
            <a:ext cx="451714" cy="45171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11896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para salvadoreños en el exterior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nos diferencia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5256" y="196596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1744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88236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Lenguaje claro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88236" y="2194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Explicación sencilla, no solo documentos técnicos.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83096" y="196596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2174443"/>
            <a:ext cx="451714" cy="4517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66076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Enfoque preventivo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66076" y="2194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Evitamos errores antes de comprar, vender o heredar.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05256" y="361188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" y="3820363"/>
            <a:ext cx="451714" cy="4517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88236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Atención digital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888236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Solicita el servicio desde cualquier lugar, incluso desde el exterior.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83096" y="361188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579" y="382036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66076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Respaldo jurídico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466076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Revisión con criterio legal y registral.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05256" y="525780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" y="5466283"/>
            <a:ext cx="451714" cy="45171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88236" y="5093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Documentos oficiales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888236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Gestionamos y entregamos certificaciones emitidas por el CNR.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83096" y="525780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1579" y="5466283"/>
            <a:ext cx="451714" cy="45171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66076" y="5093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Informes ordenados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466076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Conclusiones y recomendaciones, no solo datos sueltos.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sugeridos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Text 3"/>
          <p:cNvSpPr/>
          <p:nvPr/>
        </p:nvSpPr>
        <p:spPr>
          <a:xfrm>
            <a:off x="813816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$15–25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 básica registral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9976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6"/>
          <p:cNvSpPr/>
          <p:nvPr/>
        </p:nvSpPr>
        <p:spPr>
          <a:xfrm>
            <a:off x="4562856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$35–50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0857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registral estándar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9016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1" name="Text 9"/>
          <p:cNvSpPr/>
          <p:nvPr/>
        </p:nvSpPr>
        <p:spPr>
          <a:xfrm>
            <a:off x="8311896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$60–100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5761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preventivo para compraventa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12"/>
          <p:cNvSpPr/>
          <p:nvPr/>
        </p:nvSpPr>
        <p:spPr>
          <a:xfrm>
            <a:off x="813816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9536" y="4983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Certificación extractada oficial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9976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Text 15"/>
          <p:cNvSpPr/>
          <p:nvPr/>
        </p:nvSpPr>
        <p:spPr>
          <a:xfrm>
            <a:off x="4562856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 prom.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08576" y="4983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Certificación literal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9016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0" name="Text 18"/>
          <p:cNvSpPr/>
          <p:nvPr/>
        </p:nvSpPr>
        <p:spPr>
          <a:xfrm>
            <a:off x="8311896" y="4114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$75–150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57616" y="4983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para salvadoreños en el exterior</a:t>
            </a:r>
            <a:endParaRPr lang="en-US" sz="13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Canales de atención y venta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51076" y="192024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369" y="220553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Business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409" y="2205533"/>
            <a:ext cx="618134" cy="6181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79976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Facebook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249156" y="192024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449" y="2205533"/>
            <a:ext cx="618134" cy="6181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9016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751076" y="411480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6369" y="4400093"/>
            <a:ext cx="618134" cy="6181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0936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500116" y="411480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5409" y="4400093"/>
            <a:ext cx="618134" cy="6181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79976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Correo electrónico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9249156" y="4114800"/>
            <a:ext cx="1188720" cy="1188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4449" y="4400093"/>
            <a:ext cx="618134" cy="61813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29016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Página web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Contenido educativo para redes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143103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6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834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una matrícula inmobiliaria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74136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426567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86" y="21177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7016" y="2834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una certificación extractada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8776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3" name="Shape 9"/>
          <p:cNvSpPr/>
          <p:nvPr/>
        </p:nvSpPr>
        <p:spPr>
          <a:xfrm>
            <a:off x="710031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826" y="21177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1656" y="2834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es una certificación literal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043416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Shape 12"/>
          <p:cNvSpPr/>
          <p:nvPr/>
        </p:nvSpPr>
        <p:spPr>
          <a:xfrm>
            <a:off x="993495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2466" y="21177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6296" y="28346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 entre extractada y literal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39496" y="4160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1" name="Shape 15"/>
          <p:cNvSpPr/>
          <p:nvPr/>
        </p:nvSpPr>
        <p:spPr>
          <a:xfrm>
            <a:off x="143103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546" y="458663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" y="5303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significa que tenga hipoteca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74136" y="4160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5" name="Shape 18"/>
          <p:cNvSpPr/>
          <p:nvPr/>
        </p:nvSpPr>
        <p:spPr>
          <a:xfrm>
            <a:off x="426567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3186" y="4586630"/>
            <a:ext cx="427939" cy="42793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57016" y="5303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significa que tenga embargo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08776" y="4160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9" name="Shape 21"/>
          <p:cNvSpPr/>
          <p:nvPr/>
        </p:nvSpPr>
        <p:spPr>
          <a:xfrm>
            <a:off x="710031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7826" y="4586630"/>
            <a:ext cx="427939" cy="42793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91656" y="5303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revisar antes de comprar un terreno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043416" y="41605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33" name="Shape 24"/>
          <p:cNvSpPr/>
          <p:nvPr/>
        </p:nvSpPr>
        <p:spPr>
          <a:xfrm>
            <a:off x="993495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2466" y="4586630"/>
            <a:ext cx="427939" cy="42793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226296" y="53035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pasa si una escritura no está inscrita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Contenido educativo para redes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193395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466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834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saber a nombre de quién está una propiedad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79976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506" y="21177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8576" y="2834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Riesgos de comprar solo con documento privado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9016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3" name="Shape 9"/>
          <p:cNvSpPr/>
          <p:nvPr/>
        </p:nvSpPr>
        <p:spPr>
          <a:xfrm>
            <a:off x="9432036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546" y="21177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7616" y="2834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qué revisar el CNR antes de comprar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0936" y="41605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Shape 12"/>
          <p:cNvSpPr/>
          <p:nvPr/>
        </p:nvSpPr>
        <p:spPr>
          <a:xfrm>
            <a:off x="193395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466" y="458663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" y="5303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hacer si sigue a nombre de un familiar fallecido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79976" y="41605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1" name="Shape 15"/>
          <p:cNvSpPr/>
          <p:nvPr/>
        </p:nvSpPr>
        <p:spPr>
          <a:xfrm>
            <a:off x="5682996" y="4389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506" y="458663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08576" y="5303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 entre escritura e inscripción registral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Recomendación del plan: contenido educativo, breve y claro.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Usuario para redes </a:t>
            </a:r>
            <a:r>
              <a:rPr lang="en-US" sz="3000" b="1" dirty="0" err="1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sociales</a:t>
            </a: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| Disponible </a:t>
            </a:r>
            <a:r>
              <a:rPr lang="en-US" sz="3000" b="1" dirty="0" err="1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</a:t>
            </a: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3000" b="1" dirty="0" err="1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1956816" y="1869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354" y="205648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@itpropiedadsv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5705856" y="1869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394" y="205648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Facebook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17136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@itpropiedadsv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9016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5" name="Shape 11"/>
          <p:cNvSpPr/>
          <p:nvPr/>
        </p:nvSpPr>
        <p:spPr>
          <a:xfrm>
            <a:off x="9454896" y="1869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434" y="205648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1896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66176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@itpropiedadsv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0936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0" name="Shape 15"/>
          <p:cNvSpPr/>
          <p:nvPr/>
        </p:nvSpPr>
        <p:spPr>
          <a:xfrm>
            <a:off x="1956816" y="4155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354" y="434248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(Twitter)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68096" y="5349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@itpropiedadsv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79976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5" name="Shape 19"/>
          <p:cNvSpPr/>
          <p:nvPr/>
        </p:nvSpPr>
        <p:spPr>
          <a:xfrm>
            <a:off x="5705856" y="4155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394" y="4342486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Business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17136" y="5349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29016" y="3977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30" name="Shape 23"/>
          <p:cNvSpPr/>
          <p:nvPr/>
        </p:nvSpPr>
        <p:spPr>
          <a:xfrm>
            <a:off x="9454896" y="415594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1434" y="4342486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11896" y="5029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66176" y="5349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/company/investiga-tu-propiedad-sv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Mismo usuario en todas las redes para facilitar que te encuentren.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Proceso operativo del servicio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Recepción de solicitud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40280" y="3246120"/>
            <a:ext cx="188366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8" name="Shape 6"/>
          <p:cNvSpPr/>
          <p:nvPr/>
        </p:nvSpPr>
        <p:spPr>
          <a:xfrm>
            <a:off x="2428646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Text 7"/>
          <p:cNvSpPr/>
          <p:nvPr/>
        </p:nvSpPr>
        <p:spPr>
          <a:xfrm>
            <a:off x="2520086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5806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Revisión preliminar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20286" y="3246120"/>
            <a:ext cx="188366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2" name="Shape 10"/>
          <p:cNvSpPr/>
          <p:nvPr/>
        </p:nvSpPr>
        <p:spPr>
          <a:xfrm>
            <a:off x="4308653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3" name="Text 11"/>
          <p:cNvSpPr/>
          <p:nvPr/>
        </p:nvSpPr>
        <p:spPr>
          <a:xfrm>
            <a:off x="4400093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45813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Cotización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00293" y="3246120"/>
            <a:ext cx="188366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16" name="Shape 14"/>
          <p:cNvSpPr/>
          <p:nvPr/>
        </p:nvSpPr>
        <p:spPr>
          <a:xfrm>
            <a:off x="6188659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7" name="Text 15"/>
          <p:cNvSpPr/>
          <p:nvPr/>
        </p:nvSpPr>
        <p:spPr>
          <a:xfrm>
            <a:off x="6280099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5819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documental o consulta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80299" y="3246120"/>
            <a:ext cx="188366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20" name="Shape 18"/>
          <p:cNvSpPr/>
          <p:nvPr/>
        </p:nvSpPr>
        <p:spPr>
          <a:xfrm>
            <a:off x="8068666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1" name="Text 19"/>
          <p:cNvSpPr/>
          <p:nvPr/>
        </p:nvSpPr>
        <p:spPr>
          <a:xfrm>
            <a:off x="8160106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05826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la información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60306" y="3246120"/>
            <a:ext cx="188366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s-SV"/>
          </a:p>
        </p:txBody>
      </p:sp>
      <p:sp>
        <p:nvSpPr>
          <p:cNvPr id="24" name="Shape 22"/>
          <p:cNvSpPr/>
          <p:nvPr/>
        </p:nvSpPr>
        <p:spPr>
          <a:xfrm>
            <a:off x="9948672" y="237744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5" name="Text 23"/>
          <p:cNvSpPr/>
          <p:nvPr/>
        </p:nvSpPr>
        <p:spPr>
          <a:xfrm>
            <a:off x="10040112" y="2468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85832" y="29718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del informe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del informe al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" y="175564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1847820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691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Nombre del cliente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14984" y="232257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2414748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7904" y="22585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Fecha de solicitud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14984" y="2889504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298167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17904" y="2825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Objeto de la consulta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1014984" y="3456432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3548604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17904" y="339242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proporcionados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1014984" y="4023360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" y="411553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17904" y="395935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 de información revisada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443984" y="175564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56" y="1847820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46904" y="1691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Identificación del inmueble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443984" y="232257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56" y="2414748"/>
            <a:ext cx="199705" cy="19970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46904" y="22585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Titular registral identificado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4443984" y="2889504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56" y="2981676"/>
            <a:ext cx="199705" cy="19970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46904" y="2825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 registral observada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4443984" y="3456432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56" y="3548604"/>
            <a:ext cx="199705" cy="19970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946904" y="339242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Gravámenes encontrados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4443984" y="4023360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56" y="4115532"/>
            <a:ext cx="199705" cy="19970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946904" y="395935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Anotaciones relevantes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7872984" y="175564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56" y="1847820"/>
            <a:ext cx="199705" cy="19970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8375904" y="1691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Inconsistencias detectadas</a:t>
            </a:r>
            <a:endParaRPr lang="en-US" sz="1300" dirty="0"/>
          </a:p>
        </p:txBody>
      </p:sp>
      <p:sp>
        <p:nvSpPr>
          <p:cNvPr id="37" name="Shape 24"/>
          <p:cNvSpPr/>
          <p:nvPr/>
        </p:nvSpPr>
        <p:spPr>
          <a:xfrm>
            <a:off x="7872984" y="232257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56" y="2414748"/>
            <a:ext cx="199705" cy="199705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375904" y="22585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40" name="Shape 26"/>
          <p:cNvSpPr/>
          <p:nvPr/>
        </p:nvSpPr>
        <p:spPr>
          <a:xfrm>
            <a:off x="7872984" y="2889504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56" y="2981676"/>
            <a:ext cx="199705" cy="199705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8375904" y="2825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43" name="Shape 28"/>
          <p:cNvSpPr/>
          <p:nvPr/>
        </p:nvSpPr>
        <p:spPr>
          <a:xfrm>
            <a:off x="7872984" y="3456432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56" y="3548604"/>
            <a:ext cx="199705" cy="199705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8375904" y="339242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Advertencia legal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7872984" y="4023360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156" y="4115532"/>
            <a:ext cx="199705" cy="199705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8375904" y="395935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Nombre y firma del responsable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Advertencias legales necesarias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96230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9164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somos una dependencia del CNR ni sustituimos sus certificaciones o servicios oficiales. Gestionamos y explicamos esa información como servicio privado.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" y="3291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7" y="34125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8156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informe privado no es certificación oficial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00216" y="3291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34125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7436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certificaciones oficiales las emite únicamente el CNR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30936" y="4434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7" y="455554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48156" y="4206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información puede variar si hay trámites posteriores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00216" y="4434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455554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17436" y="4206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servicio no garantiza inscripción, cancelación o modificación de asientos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30936" y="5577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7" y="5698541"/>
            <a:ext cx="261518" cy="26151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48156" y="5349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eliminan gravámenes ni se hacen cambios registrales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300216" y="5577840"/>
            <a:ext cx="502920" cy="50292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5698541"/>
            <a:ext cx="261518" cy="26151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17436" y="5349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casos complejos se recomienda asesoría legal especializada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FODA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745236" y="1856232"/>
            <a:ext cx="164592" cy="164592"/>
          </a:xfrm>
          <a:prstGeom prst="round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4"/>
          <p:cNvSpPr/>
          <p:nvPr/>
        </p:nvSpPr>
        <p:spPr>
          <a:xfrm>
            <a:off x="1019556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Fortalezas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Conocimiento jurídico y registral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preventivo y útil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Bajo costo inicial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de certificaciones oficiales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9" name="Shape 7"/>
          <p:cNvSpPr/>
          <p:nvPr/>
        </p:nvSpPr>
        <p:spPr>
          <a:xfrm>
            <a:off x="6414516" y="1856232"/>
            <a:ext cx="164592" cy="164592"/>
          </a:xfrm>
          <a:prstGeom prst="roundRect">
            <a:avLst/>
          </a:prstGeom>
          <a:solidFill>
            <a:srgbClr val="C98A2A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8"/>
          <p:cNvSpPr/>
          <p:nvPr/>
        </p:nvSpPr>
        <p:spPr>
          <a:xfrm>
            <a:off x="6688836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05956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Alta necesidad de seguridad inmobiliaria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Diáspora requiere apoyo remoto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Crecimiento del mercado inmobiliario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Alianzas con inmobiliarias y notarios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3" name="Shape 11"/>
          <p:cNvSpPr/>
          <p:nvPr/>
        </p:nvSpPr>
        <p:spPr>
          <a:xfrm>
            <a:off x="745236" y="4187952"/>
            <a:ext cx="164592" cy="164592"/>
          </a:xfrm>
          <a:prstGeom prst="roundRect">
            <a:avLst/>
          </a:prstGeom>
          <a:solidFill>
            <a:srgbClr val="5F6B76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12"/>
          <p:cNvSpPr/>
          <p:nvPr/>
        </p:nvSpPr>
        <p:spPr>
          <a:xfrm>
            <a:off x="1019556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Debilidades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Dependencia de información del CNR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Necesidad de generar confianza inicial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 limitada al inicio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Shape 15"/>
          <p:cNvSpPr/>
          <p:nvPr/>
        </p:nvSpPr>
        <p:spPr>
          <a:xfrm>
            <a:off x="6414516" y="4187952"/>
            <a:ext cx="164592" cy="164592"/>
          </a:xfrm>
          <a:prstGeom prst="roundRect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8" name="Text 16"/>
          <p:cNvSpPr/>
          <p:nvPr/>
        </p:nvSpPr>
        <p:spPr>
          <a:xfrm>
            <a:off x="6688836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Amenazas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5956" y="4526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Competidores informales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Cambios en plataformas oficiales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Confusión con servicios oficiales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 y visión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11196" y="1874520"/>
            <a:ext cx="1097280" cy="10972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8116" y="36118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Brindar un servicio privado, accesible y confiable de consulta, gestión documental y orientación registral inmobiliaria, que permita a las personas conocer el estado de sus propiedades y tomar decisiones seguras.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380476" y="1874520"/>
            <a:ext cx="1097280" cy="1097280"/>
          </a:xfrm>
          <a:prstGeom prst="ellipse">
            <a:avLst/>
          </a:prstGeom>
          <a:solidFill>
            <a:srgbClr val="C98A2A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823" y="2137867"/>
            <a:ext cx="570586" cy="5705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3076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Visión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97396" y="36118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Convertirse en una marca privada de referencia en El Salvador en orientación, consulta y gestión documental registral, reconocida por su claridad, confiabilidad y utilidad.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Riesgos del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6676" y="221742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42590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19656" y="1737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Confusión con el CNR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85716" y="221742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242590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8696" y="1737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Información incompleta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334756" y="221742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39" y="2425903"/>
            <a:ext cx="451714" cy="451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17736" y="1737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Interpretación jurídica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36676" y="436626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" y="4574743"/>
            <a:ext cx="451714" cy="451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19656" y="38862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Responsabilidad del servicio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85716" y="436626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199" y="457474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68696" y="38862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Protección de datos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8334756" y="4366260"/>
            <a:ext cx="868680" cy="86868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3239" y="4574743"/>
            <a:ext cx="451714" cy="4517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317736" y="38862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Variación en costos oficiales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Aliados estratégicos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6716" y="187452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72" y="20939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Agentes inmobiliarios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96996" y="187452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209397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79776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 de bienes raíces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637276" y="187452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2093976"/>
            <a:ext cx="475488" cy="4754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0056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Lotificadoras formales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877556" y="187452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012" y="2093976"/>
            <a:ext cx="475488" cy="4754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60336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Constructores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10117836" y="187452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7292" y="2093976"/>
            <a:ext cx="475488" cy="4754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00616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Instituciones financieras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1156716" y="411480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6172" y="4334256"/>
            <a:ext cx="475488" cy="4754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" y="5166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Gestores registrales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3396996" y="411480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6452" y="4334256"/>
            <a:ext cx="475488" cy="4754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779776" y="5166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Salvadoreños en el exterior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637276" y="411480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732" y="4334256"/>
            <a:ext cx="475488" cy="4754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20056" y="5166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Creadores de contenido inmobiliario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7877556" y="411480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7012" y="4334256"/>
            <a:ext cx="475488" cy="4754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260336" y="5166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 de avalúos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10117836" y="4114800"/>
            <a:ext cx="914400" cy="914400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7292" y="4334256"/>
            <a:ext cx="475488" cy="4754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00616" y="5166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Corredores de bienes raíces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Recomendaciones para formalizar el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6364" y="175564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1847820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9284" y="16916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 persona natural o sociedad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" y="232257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2414748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9284" y="2258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marca, logo y línea gráfica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" y="2889504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298167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9284" y="2825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Registrar dominio web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" y="3456432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3548604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9284" y="33924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WhatsApp Business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6364" y="4023360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411553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9284" y="39593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Preparar términos y condiciones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" y="459028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4682460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29284" y="4526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formato estándar de informe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6364" y="515721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" y="5249388"/>
            <a:ext cx="199705" cy="19970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29284" y="50932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Diseñar formulario de solicitud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95644" y="175564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1847820"/>
            <a:ext cx="199705" cy="19970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98564" y="16916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 política de privacidad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295644" y="232257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2414748"/>
            <a:ext cx="199705" cy="19970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98564" y="2258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Separar honorarios de costos oficiales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6295644" y="2889504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2981676"/>
            <a:ext cx="199705" cy="19970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98564" y="2825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comprobantes de pago</a:t>
            </a:r>
            <a:endParaRPr lang="en-US" sz="1250" dirty="0"/>
          </a:p>
        </p:txBody>
      </p:sp>
      <p:sp>
        <p:nvSpPr>
          <p:cNvPr id="34" name="Shape 22"/>
          <p:cNvSpPr/>
          <p:nvPr/>
        </p:nvSpPr>
        <p:spPr>
          <a:xfrm>
            <a:off x="6295644" y="3456432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3548604"/>
            <a:ext cx="199705" cy="19970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798564" y="33924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Llevar control interno de cada caso</a:t>
            </a:r>
            <a:endParaRPr lang="en-US" sz="1250" dirty="0"/>
          </a:p>
        </p:txBody>
      </p:sp>
      <p:sp>
        <p:nvSpPr>
          <p:cNvPr id="37" name="Shape 24"/>
          <p:cNvSpPr/>
          <p:nvPr/>
        </p:nvSpPr>
        <p:spPr>
          <a:xfrm>
            <a:off x="6295644" y="4023360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4115532"/>
            <a:ext cx="199705" cy="199705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798564" y="39593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 autorización del cliente para gestionar certificaciones</a:t>
            </a:r>
            <a:endParaRPr lang="en-US" sz="1250" dirty="0"/>
          </a:p>
        </p:txBody>
      </p:sp>
      <p:sp>
        <p:nvSpPr>
          <p:cNvPr id="40" name="Shape 26"/>
          <p:cNvSpPr/>
          <p:nvPr/>
        </p:nvSpPr>
        <p:spPr>
          <a:xfrm>
            <a:off x="6295644" y="4590288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4682460"/>
            <a:ext cx="199705" cy="199705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798564" y="4526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 política de precios para literales extensas</a:t>
            </a:r>
            <a:endParaRPr lang="en-US" sz="1250" dirty="0"/>
          </a:p>
        </p:txBody>
      </p:sp>
      <p:sp>
        <p:nvSpPr>
          <p:cNvPr id="43" name="Shape 28"/>
          <p:cNvSpPr/>
          <p:nvPr/>
        </p:nvSpPr>
        <p:spPr>
          <a:xfrm>
            <a:off x="6295644" y="5157216"/>
            <a:ext cx="384048" cy="384048"/>
          </a:xfrm>
          <a:prstGeom prst="ellipse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816" y="5249388"/>
            <a:ext cx="199705" cy="199705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798564" y="50932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Evaluar consulta registral en línea si el volumen lo justifica</a:t>
            </a:r>
            <a:endParaRPr lang="en-US" sz="1250" dirty="0"/>
          </a:p>
        </p:txBody>
      </p:sp>
      <p:sp>
        <p:nvSpPr>
          <p:cNvPr id="46" name="Text 30"/>
          <p:cNvSpPr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dorado: lo que ya avanzamos juntos en esta conversación.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54396" y="210312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34" y="241035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74904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propuestas de marca y marketing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45920" y="452628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Presentadas desde la perspectiva de un asesor de marca y un diseñador gráfico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2D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1 — Cercanía profesional</a:t>
            </a:r>
            <a:endParaRPr lang="en-US" sz="2600" dirty="0"/>
          </a:p>
        </p:txBody>
      </p:sp>
      <p:pic>
        <p:nvPicPr>
          <p:cNvPr id="4" name="Image 0" descr="p1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749040" cy="878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640080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Mostaza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09928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6B2D42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/>
          <p:nvPr/>
        </p:nvSpPr>
        <p:spPr>
          <a:xfrm>
            <a:off x="1709928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Ciruela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79776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3A2E2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2779776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Café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9624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3849624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Crema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D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Tipografía:  </a:t>
            </a: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2D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“Tu propiedad, sin sorpresas.”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D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objetivo prioritario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30063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Familias, herederos y compradores primerizos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D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de marketing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6B2D42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6737299" y="3628339"/>
            <a:ext cx="332842" cy="332842"/>
          </a:xfrm>
          <a:prstGeom prst="rect">
            <a:avLst/>
          </a:prstGeom>
          <a:noFill/>
        </p:spPr>
      </p:pic>
      <p:sp>
        <p:nvSpPr>
          <p:cNvPr id="23" name="Shape 18"/>
          <p:cNvSpPr/>
          <p:nvPr/>
        </p:nvSpPr>
        <p:spPr>
          <a:xfrm>
            <a:off x="7543800" y="3474720"/>
            <a:ext cx="640080" cy="640080"/>
          </a:xfrm>
          <a:prstGeom prst="ellipse">
            <a:avLst/>
          </a:prstGeom>
          <a:solidFill>
            <a:srgbClr val="6B2D42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697419" y="3628339"/>
            <a:ext cx="332842" cy="332842"/>
          </a:xfrm>
          <a:prstGeom prst="rect">
            <a:avLst/>
          </a:prstGeom>
          <a:noFill/>
        </p:spPr>
      </p:pic>
      <p:sp>
        <p:nvSpPr>
          <p:cNvPr id="25" name="Shape 19"/>
          <p:cNvSpPr/>
          <p:nvPr/>
        </p:nvSpPr>
        <p:spPr>
          <a:xfrm>
            <a:off x="8503920" y="3474720"/>
            <a:ext cx="640080" cy="640080"/>
          </a:xfrm>
          <a:prstGeom prst="ellipse">
            <a:avLst/>
          </a:prstGeom>
          <a:solidFill>
            <a:srgbClr val="6B2D42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8657539" y="3628339"/>
            <a:ext cx="332842" cy="332842"/>
          </a:xfrm>
          <a:prstGeom prst="rect">
            <a:avLst/>
          </a:prstGeom>
          <a:noFill/>
        </p:spPr>
      </p:pic>
      <p:sp>
        <p:nvSpPr>
          <p:cNvPr id="27" name="Text 20"/>
          <p:cNvSpPr/>
          <p:nvPr/>
        </p:nvSpPr>
        <p:spPr>
          <a:xfrm>
            <a:off x="644652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Mensaje ancla: “Antes de firmar, pregúntanos.”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2 — Moderna y digital</a:t>
            </a:r>
            <a:endParaRPr lang="en-US" sz="2600" dirty="0"/>
          </a:p>
        </p:txBody>
      </p:sp>
      <p:pic>
        <p:nvPicPr>
          <p:cNvPr id="4" name="Image 0" descr="p2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749040" cy="878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640080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Azul marino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09928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2FB6C4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/>
          <p:nvPr/>
        </p:nvSpPr>
        <p:spPr>
          <a:xfrm>
            <a:off x="1709928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79776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1A2430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2779776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Grafito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9624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3849624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Gris niebla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Tipografía:  </a:t>
            </a: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Montserrat / Space Grotesk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“Verifica antes de decidir.”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objetivo prioritario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30063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Agentes, inversionistas y diáspora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de marketing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6737299" y="3628339"/>
            <a:ext cx="332842" cy="33284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543800" y="34747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697419" y="3628339"/>
            <a:ext cx="332842" cy="33284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03920" y="34747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8657539" y="36283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4652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Mensaje ancla: “La verificación registral, con la rapidez de cualquier app.”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E2A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3 — Tradición y confianza</a:t>
            </a:r>
            <a:endParaRPr lang="en-US" sz="2600" dirty="0"/>
          </a:p>
        </p:txBody>
      </p:sp>
      <p:pic>
        <p:nvPicPr>
          <p:cNvPr id="4" name="Image 0" descr="p3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749040" cy="878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6E2A34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640080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Vino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09928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B08D3B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/>
          <p:nvPr/>
        </p:nvSpPr>
        <p:spPr>
          <a:xfrm>
            <a:off x="1709928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Dorado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79776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2B221C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2779776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9624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EFE7D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3849624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Pergamino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2A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Tipografía:  </a:t>
            </a: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Lora (serif)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2A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“Conoce la verdad de tu propiedad.”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A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objetivo prioritario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30063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Notarios, abogados y aliados formales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2A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de marketing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6E2A34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737299" y="3628339"/>
            <a:ext cx="332842" cy="33284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543800" y="3474720"/>
            <a:ext cx="640080" cy="640080"/>
          </a:xfrm>
          <a:prstGeom prst="ellipse">
            <a:avLst/>
          </a:prstGeom>
          <a:solidFill>
            <a:srgbClr val="6E2A34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697419" y="3628339"/>
            <a:ext cx="332842" cy="33284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03920" y="3474720"/>
            <a:ext cx="640080" cy="640080"/>
          </a:xfrm>
          <a:prstGeom prst="ellipse">
            <a:avLst/>
          </a:prstGeom>
          <a:solidFill>
            <a:srgbClr val="6E2A34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8657539" y="36283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4652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Mensaje ancla: “La seriedad de un análisis, la claridad de una explicación honesta.”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4 — Confianza accesible (combinada)</a:t>
            </a:r>
            <a:endParaRPr lang="en-US" sz="2600" dirty="0"/>
          </a:p>
        </p:txBody>
      </p:sp>
      <p:pic>
        <p:nvPicPr>
          <p:cNvPr id="4" name="Image 0" descr="p4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749040" cy="878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640080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Petróleo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09928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/>
          <p:nvPr/>
        </p:nvSpPr>
        <p:spPr>
          <a:xfrm>
            <a:off x="1709928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Mostaza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79776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4FA8A0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2779776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Verde-cián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9624" y="260604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3849624" y="33192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Crema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Tipografía:  </a:t>
            </a: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+ sans neutra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4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“Investiga con calma. Decide con seguridad.”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Público objetivo prioritario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30063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los segmentos — marca paraguas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de marketing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6737299" y="3628339"/>
            <a:ext cx="332842" cy="33284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543800" y="3474720"/>
            <a:ext cx="640080" cy="640080"/>
          </a:xfrm>
          <a:prstGeom prst="ellipse">
            <a:avLst/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7697419" y="3628339"/>
            <a:ext cx="332842" cy="33284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03920" y="3474720"/>
            <a:ext cx="640080" cy="640080"/>
          </a:xfrm>
          <a:prstGeom prst="ellipse">
            <a:avLst/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8657539" y="3628339"/>
            <a:ext cx="332842" cy="33284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464040" y="3474720"/>
            <a:ext cx="640080" cy="640080"/>
          </a:xfrm>
          <a:prstGeom prst="ellipse">
            <a:avLst/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617659" y="3628339"/>
            <a:ext cx="332842" cy="33284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4652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Mensaje ancla: “Te explicamos claro, te entregamos preciso.”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Comparativa de propuestas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5" name="Image 0" descr="p1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11680"/>
            <a:ext cx="2148840" cy="5036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" y="2743914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6B2D42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7" name="Text 4"/>
          <p:cNvSpPr/>
          <p:nvPr/>
        </p:nvSpPr>
        <p:spPr>
          <a:xfrm>
            <a:off x="768096" y="27439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Cercanía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338399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Familias y herederos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74136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1" descr="p2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011680"/>
            <a:ext cx="2148840" cy="5036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02736" y="2743914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8"/>
          <p:cNvSpPr/>
          <p:nvPr/>
        </p:nvSpPr>
        <p:spPr>
          <a:xfrm>
            <a:off x="3602736" y="27439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Moderna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57016" y="338399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Agentes y diáspora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08776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5" name="Image 2" descr="p3_lo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011680"/>
            <a:ext cx="2148840" cy="50363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37376" y="2743914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6E2A34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Text 12"/>
          <p:cNvSpPr/>
          <p:nvPr/>
        </p:nvSpPr>
        <p:spPr>
          <a:xfrm>
            <a:off x="6437376" y="27439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Tradición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91656" y="338399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Notarios y abogados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43416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20" name="Image 3" descr="p4_lock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011680"/>
            <a:ext cx="2148840" cy="50363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272016" y="2743914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B4B4A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22" name="Text 16"/>
          <p:cNvSpPr/>
          <p:nvPr/>
        </p:nvSpPr>
        <p:spPr>
          <a:xfrm>
            <a:off x="9272016" y="27439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Combinada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26296" y="338399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3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los segmentos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28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 tu Propiedad SV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54396" y="128016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34" y="158739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92608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idea de negocio viable y necesaria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45920" y="3749040"/>
            <a:ext cx="8897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Muchas personas no conocen el estado registral de sus inmuebles.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FC2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Ayudamos a cambiar eso, con claridad y respaldo oficial.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576072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8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investigatupropiedad.com.sv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1308</Words>
  <Application>Microsoft Office PowerPoint</Application>
  <PresentationFormat>Panorámica</PresentationFormat>
  <Paragraphs>308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 tu Propiedad SV</dc:title>
  <dc:subject>PptxGenJS Presentation</dc:subject>
  <dc:creator>Investiga tu Propiedad SV</dc:creator>
  <cp:lastModifiedBy>Rocío Beatriz Sol Merino</cp:lastModifiedBy>
  <cp:revision>2</cp:revision>
  <dcterms:created xsi:type="dcterms:W3CDTF">2026-07-02T02:39:07Z</dcterms:created>
  <dcterms:modified xsi:type="dcterms:W3CDTF">2026-07-02T02:54:09Z</dcterms:modified>
</cp:coreProperties>
</file>